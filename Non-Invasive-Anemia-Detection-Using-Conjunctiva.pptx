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Brygada 1918" panose="020B0604020202020204" charset="0"/>
      <p:regular r:id="rId13"/>
    </p:embeddedFont>
    <p:embeddedFont>
      <p:font typeface="Brygada 1918 Semi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80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9023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72960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Non-Invasive Anemia Detection Using Conjunctiva Images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23945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 Comparative Study of MobileNet, ResNet-50, and VGG-16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85751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Nandan, Juhi Kumari, Pragati Singh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47556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Department of CSE (AI)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60936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KIET Group of Institutions)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90719"/>
            <a:ext cx="62572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Understanding Anemia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27434"/>
            <a:ext cx="8284131" cy="4623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22664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What is Anemia?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38943" y="2847618"/>
            <a:ext cx="420516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Anemia occurs when hemoglobin levels drop, reducing oxygen supply throughout the body. It's particularly prevalent among women and children worldwide.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943" y="48889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Common Symptoms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638943" y="5470088"/>
            <a:ext cx="4205168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Fatigue and weakness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Pale skin and conjunctiva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Shortness of breath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Dizziness and headaches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3042" y="633532"/>
            <a:ext cx="5404842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Problem Statement</a:t>
            </a:r>
            <a:endParaRPr lang="en-US" sz="4250" dirty="0"/>
          </a:p>
        </p:txBody>
      </p:sp>
      <p:sp>
        <p:nvSpPr>
          <p:cNvPr id="4" name="Shape 1"/>
          <p:cNvSpPr/>
          <p:nvPr/>
        </p:nvSpPr>
        <p:spPr>
          <a:xfrm>
            <a:off x="6243042" y="1618298"/>
            <a:ext cx="7630716" cy="1967865"/>
          </a:xfrm>
          <a:prstGeom prst="roundRect">
            <a:avLst>
              <a:gd name="adj" fmla="val 7435"/>
            </a:avLst>
          </a:prstGeom>
          <a:solidFill>
            <a:srgbClr val="F6EBD4"/>
          </a:solidFill>
          <a:ln w="30480">
            <a:solidFill>
              <a:srgbClr val="626C3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12562" y="1618298"/>
            <a:ext cx="121920" cy="1967865"/>
          </a:xfrm>
          <a:prstGeom prst="roundRect">
            <a:avLst>
              <a:gd name="adj" fmla="val 265988"/>
            </a:avLst>
          </a:prstGeom>
          <a:solidFill>
            <a:srgbClr val="626C3B"/>
          </a:solidFill>
          <a:ln/>
        </p:spPr>
      </p:sp>
      <p:sp>
        <p:nvSpPr>
          <p:cNvPr id="6" name="Text 3"/>
          <p:cNvSpPr/>
          <p:nvPr/>
        </p:nvSpPr>
        <p:spPr>
          <a:xfrm>
            <a:off x="6581061" y="1864876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Current Challenges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581061" y="2326243"/>
            <a:ext cx="7046119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Traditional blood tests require specialized laboratories, expensive equipment, and trained medical personnel, making them inaccessible in resource-limited settings.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43042" y="3792141"/>
            <a:ext cx="7630716" cy="1967865"/>
          </a:xfrm>
          <a:prstGeom prst="roundRect">
            <a:avLst>
              <a:gd name="adj" fmla="val 7435"/>
            </a:avLst>
          </a:prstGeom>
          <a:solidFill>
            <a:srgbClr val="F6EBD4"/>
          </a:solidFill>
          <a:ln w="30480">
            <a:solidFill>
              <a:srgbClr val="83792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12562" y="3792141"/>
            <a:ext cx="121920" cy="1967865"/>
          </a:xfrm>
          <a:prstGeom prst="roundRect">
            <a:avLst>
              <a:gd name="adj" fmla="val 265988"/>
            </a:avLst>
          </a:prstGeom>
          <a:solidFill>
            <a:srgbClr val="83792E"/>
          </a:solidFill>
          <a:ln/>
        </p:spPr>
      </p:sp>
      <p:sp>
        <p:nvSpPr>
          <p:cNvPr id="10" name="Text 7"/>
          <p:cNvSpPr/>
          <p:nvPr/>
        </p:nvSpPr>
        <p:spPr>
          <a:xfrm>
            <a:off x="6581061" y="4038719"/>
            <a:ext cx="2754511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Rural Healthcare Gap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6581061" y="4500086"/>
            <a:ext cx="7046119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Limited access to diagnostic facilities in rural and remote areas delays early detection and treatment of anemia, leading to worsened health outcomes.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243042" y="5965984"/>
            <a:ext cx="7630716" cy="1630085"/>
          </a:xfrm>
          <a:prstGeom prst="roundRect">
            <a:avLst>
              <a:gd name="adj" fmla="val 8975"/>
            </a:avLst>
          </a:prstGeom>
          <a:solidFill>
            <a:srgbClr val="F6EBD4"/>
          </a:solidFill>
          <a:ln w="30480">
            <a:solidFill>
              <a:srgbClr val="E8AF3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12562" y="5965984"/>
            <a:ext cx="121920" cy="1630085"/>
          </a:xfrm>
          <a:prstGeom prst="roundRect">
            <a:avLst>
              <a:gd name="adj" fmla="val 265988"/>
            </a:avLst>
          </a:prstGeom>
          <a:solidFill>
            <a:srgbClr val="E8AF3B"/>
          </a:solidFill>
          <a:ln/>
        </p:spPr>
      </p:sp>
      <p:sp>
        <p:nvSpPr>
          <p:cNvPr id="14" name="Text 11"/>
          <p:cNvSpPr/>
          <p:nvPr/>
        </p:nvSpPr>
        <p:spPr>
          <a:xfrm>
            <a:off x="6581061" y="6212562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Economic Barriers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6581061" y="6673929"/>
            <a:ext cx="7046119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Blood tests involve significant costs, time delays, and patient discomfort, creating barriers to regular screening and preventive care.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6126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Proposed Solution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10207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965252"/>
            <a:ext cx="6407944" cy="30480"/>
          </a:xfrm>
          <a:prstGeom prst="rect">
            <a:avLst/>
          </a:prstGeom>
          <a:solidFill>
            <a:srgbClr val="626C3B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1395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Image Capture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629978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Conjunctiva images captured using standard cameras or smartphones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610207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965252"/>
            <a:ext cx="6408063" cy="30480"/>
          </a:xfrm>
          <a:prstGeom prst="rect">
            <a:avLst/>
          </a:prstGeom>
          <a:solidFill>
            <a:srgbClr val="83792E"/>
          </a:solidFill>
          <a:ln/>
        </p:spPr>
      </p:sp>
      <p:sp>
        <p:nvSpPr>
          <p:cNvPr id="9" name="Text 7"/>
          <p:cNvSpPr/>
          <p:nvPr/>
        </p:nvSpPr>
        <p:spPr>
          <a:xfrm>
            <a:off x="7428548" y="31395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Color Analysis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3629978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Machine learning analyzes color changes in conjunctival tissue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752618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107662"/>
            <a:ext cx="6407944" cy="30480"/>
          </a:xfrm>
          <a:prstGeom prst="rect">
            <a:avLst/>
          </a:prstGeom>
          <a:solidFill>
            <a:srgbClr val="E8AF3B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52819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Classification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5772388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Deep learning models classify hemoglobin levels from image data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752618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107662"/>
            <a:ext cx="6408063" cy="30480"/>
          </a:xfrm>
          <a:prstGeom prst="rect">
            <a:avLst/>
          </a:prstGeom>
          <a:solidFill>
            <a:srgbClr val="CC914D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52819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Diagnosis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5772388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Binary output: Anemic or Non-Anemic prediction with confidence level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77766"/>
            <a:ext cx="379737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Methodology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772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Workflow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558415"/>
            <a:ext cx="379737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Our approach combines image processing techniques with deep learning architectures to create a non-invasive diagnostic system.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2368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Key Advantages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817983"/>
            <a:ext cx="379737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Non-invasive procedure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Fast results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Low-cost implementation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Scalable deployment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6711553"/>
            <a:ext cx="37973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2192" y="1513761"/>
            <a:ext cx="8688348" cy="46349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152192" y="6403896"/>
            <a:ext cx="869192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4611" y="697706"/>
            <a:ext cx="676882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Deep Learning Architectures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694611" y="1578173"/>
            <a:ext cx="3790593" cy="3187660"/>
          </a:xfrm>
          <a:prstGeom prst="roundRect">
            <a:avLst>
              <a:gd name="adj" fmla="val 9339"/>
            </a:avLst>
          </a:prstGeom>
          <a:solidFill>
            <a:srgbClr val="626C3B"/>
          </a:solidFill>
          <a:ln w="7620">
            <a:solidFill>
              <a:srgbClr val="626C3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00589" y="1784152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626C3B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4300" y="1947743"/>
            <a:ext cx="267891" cy="2678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00589" y="255305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ResNet-50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900589" y="2967395"/>
            <a:ext cx="337863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Best Performance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900589" y="3369231"/>
            <a:ext cx="3378637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50-layer deep network with skip connections enables better gradient flow and reduced overfitting. Achieves highest accuracy at 78%.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4658797" y="1578173"/>
            <a:ext cx="3790593" cy="3187660"/>
          </a:xfrm>
          <a:prstGeom prst="roundRect">
            <a:avLst>
              <a:gd name="adj" fmla="val 9339"/>
            </a:avLst>
          </a:prstGeom>
          <a:solidFill>
            <a:srgbClr val="626C3B"/>
          </a:solidFill>
          <a:ln w="7620">
            <a:solidFill>
              <a:srgbClr val="83792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864775" y="1784152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83792E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28486" y="1947743"/>
            <a:ext cx="267891" cy="2678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864775" y="255305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VGG-16</a:t>
            </a:r>
            <a:endParaRPr lang="en-US" sz="1950" dirty="0"/>
          </a:p>
        </p:txBody>
      </p:sp>
      <p:sp>
        <p:nvSpPr>
          <p:cNvPr id="14" name="Text 9"/>
          <p:cNvSpPr/>
          <p:nvPr/>
        </p:nvSpPr>
        <p:spPr>
          <a:xfrm>
            <a:off x="4864775" y="2967395"/>
            <a:ext cx="337863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Strong Baseline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4864775" y="3369231"/>
            <a:ext cx="3378637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16-layer architecture with consistent 3×3 convolutions. Solid performance with 74% accuracy and reliable feature extraction.</a:t>
            </a:r>
            <a:endParaRPr lang="en-US" sz="1550" dirty="0"/>
          </a:p>
        </p:txBody>
      </p:sp>
      <p:sp>
        <p:nvSpPr>
          <p:cNvPr id="16" name="Shape 11"/>
          <p:cNvSpPr/>
          <p:nvPr/>
        </p:nvSpPr>
        <p:spPr>
          <a:xfrm>
            <a:off x="694611" y="4939427"/>
            <a:ext cx="7754779" cy="2592348"/>
          </a:xfrm>
          <a:prstGeom prst="roundRect">
            <a:avLst>
              <a:gd name="adj" fmla="val 11484"/>
            </a:avLst>
          </a:prstGeom>
          <a:solidFill>
            <a:srgbClr val="626C3B"/>
          </a:solidFill>
          <a:ln w="7620">
            <a:solidFill>
              <a:srgbClr val="E8AF3B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00589" y="5145405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E8AF3B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4300" y="5308997"/>
            <a:ext cx="267891" cy="26789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0589" y="591431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MobileNet</a:t>
            </a:r>
            <a:endParaRPr lang="en-US" sz="1950" dirty="0"/>
          </a:p>
        </p:txBody>
      </p:sp>
      <p:sp>
        <p:nvSpPr>
          <p:cNvPr id="20" name="Text 14"/>
          <p:cNvSpPr/>
          <p:nvPr/>
        </p:nvSpPr>
        <p:spPr>
          <a:xfrm>
            <a:off x="900589" y="6328648"/>
            <a:ext cx="734282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Lightweight Option</a:t>
            </a:r>
            <a:endParaRPr lang="en-US" sz="1550" dirty="0"/>
          </a:p>
        </p:txBody>
      </p:sp>
      <p:sp>
        <p:nvSpPr>
          <p:cNvPr id="21" name="Text 15"/>
          <p:cNvSpPr/>
          <p:nvPr/>
        </p:nvSpPr>
        <p:spPr>
          <a:xfrm>
            <a:off x="900589" y="6730484"/>
            <a:ext cx="7342823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Optimized for mobile devices with depthwise separable convolutions. Best recall at 84% with efficient computation.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55050"/>
            <a:ext cx="61114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Model Training Details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630805"/>
            <a:ext cx="32568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Technical Specifications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211949"/>
            <a:ext cx="3501509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Input Size: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224 × 224 pixels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Base Model: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ResNet-50 (ImageNet weights)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Technique: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Transfer Learning with fine-tuning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Optimizer: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Adam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Learning Rate: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0.001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856321" y="2630805"/>
            <a:ext cx="31055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Training Configuration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856321" y="3211949"/>
            <a:ext cx="3501509" cy="358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Loss Function: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Binary Crossentropy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Batch Size: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16-32 images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Epochs: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10-20 iterations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Preprocessing: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Normalization &amp; augmentation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Validation: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K-fold cross-validation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05589"/>
            <a:ext cx="692741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Performance Comparison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67997"/>
            <a:ext cx="13042821" cy="2639378"/>
          </a:xfrm>
          <a:prstGeom prst="roundRect">
            <a:avLst>
              <a:gd name="adj" fmla="val 1289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581" y="2219325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Model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3637836" y="2219325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Accuracy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6243280" y="2219325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Precision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848725" y="2219325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Recall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1454170" y="2219325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F1-Score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28581" y="2877264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ResNet-50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3637836" y="2877264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88%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6243280" y="2877264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0.80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8848725" y="2877264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0.82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1454170" y="2877264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0.81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028581" y="3535204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VGG-16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3637836" y="3535204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74%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6243280" y="3535204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0.76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8848725" y="3535204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0.79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1454170" y="3535204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0.77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028581" y="4193143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MobileNet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3637836" y="4193143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72%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6243280" y="4193143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0.75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8848725" y="4193143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0.84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1454170" y="4193143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0.79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793790" y="507587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88%</a:t>
            </a:r>
            <a:endParaRPr lang="en-US" sz="5850" dirty="0"/>
          </a:p>
        </p:txBody>
      </p:sp>
      <p:sp>
        <p:nvSpPr>
          <p:cNvPr id="25" name="Text 23"/>
          <p:cNvSpPr/>
          <p:nvPr/>
        </p:nvSpPr>
        <p:spPr>
          <a:xfrm>
            <a:off x="1455420" y="61076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Best Accuracy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93790" y="6598087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ResNet-50 achieved highest overall performance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5235893" y="507587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84%</a:t>
            </a:r>
            <a:endParaRPr lang="en-US" sz="5850" dirty="0"/>
          </a:p>
        </p:txBody>
      </p:sp>
      <p:sp>
        <p:nvSpPr>
          <p:cNvPr id="28" name="Text 26"/>
          <p:cNvSpPr/>
          <p:nvPr/>
        </p:nvSpPr>
        <p:spPr>
          <a:xfrm>
            <a:off x="5897523" y="61076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Best Recall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235893" y="6598087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MobileNet detected most anemic cases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9677995" y="507587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0.81</a:t>
            </a:r>
            <a:endParaRPr lang="en-US" sz="5850" dirty="0"/>
          </a:p>
        </p:txBody>
      </p:sp>
      <p:sp>
        <p:nvSpPr>
          <p:cNvPr id="31" name="Text 29"/>
          <p:cNvSpPr/>
          <p:nvPr/>
        </p:nvSpPr>
        <p:spPr>
          <a:xfrm>
            <a:off x="10339626" y="61076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Best F1-Score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677995" y="6598087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ResNet-50 balanced precision and recall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1460" y="523161"/>
            <a:ext cx="6979087" cy="553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Challenges &amp; Future Applications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1201460" y="1422916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Current Limitations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201460" y="1855470"/>
            <a:ext cx="3998595" cy="1320046"/>
          </a:xfrm>
          <a:prstGeom prst="roundRect">
            <a:avLst>
              <a:gd name="adj" fmla="val 20137"/>
            </a:avLst>
          </a:prstGeom>
          <a:solidFill>
            <a:srgbClr val="F6EBD4"/>
          </a:solidFill>
          <a:ln w="22860">
            <a:solidFill>
              <a:srgbClr val="626C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01485" y="2055495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Limited Dataset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01485" y="2470666"/>
            <a:ext cx="359854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Small sample size affects model generalization to diverse populations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201460" y="3313867"/>
            <a:ext cx="3998595" cy="1320046"/>
          </a:xfrm>
          <a:prstGeom prst="roundRect">
            <a:avLst>
              <a:gd name="adj" fmla="val 20137"/>
            </a:avLst>
          </a:prstGeom>
          <a:solidFill>
            <a:srgbClr val="F6EBD4"/>
          </a:solidFill>
          <a:ln w="22860">
            <a:solidFill>
              <a:srgbClr val="8379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01485" y="3513892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Image Quality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01485" y="3929063"/>
            <a:ext cx="359854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Lighting conditions and capture quality significantly impact results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201460" y="4772263"/>
            <a:ext cx="3998595" cy="1320046"/>
          </a:xfrm>
          <a:prstGeom prst="roundRect">
            <a:avLst>
              <a:gd name="adj" fmla="val 20137"/>
            </a:avLst>
          </a:prstGeom>
          <a:solidFill>
            <a:srgbClr val="F6EBD4"/>
          </a:solidFill>
          <a:ln w="22860">
            <a:solidFill>
              <a:srgbClr val="E8AF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01485" y="4972288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Class Imbalance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01485" y="5387459"/>
            <a:ext cx="359854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Uneven distribution affects model training and evaluation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201460" y="6230660"/>
            <a:ext cx="3998595" cy="1320046"/>
          </a:xfrm>
          <a:prstGeom prst="roundRect">
            <a:avLst>
              <a:gd name="adj" fmla="val 20137"/>
            </a:avLst>
          </a:prstGeom>
          <a:solidFill>
            <a:srgbClr val="F6EBD4"/>
          </a:solidFill>
          <a:ln w="22860">
            <a:solidFill>
              <a:srgbClr val="CC91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01485" y="6430685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Clinical Validation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01485" y="6845856"/>
            <a:ext cx="359854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Real-world testing required before deployment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639872" y="1703546"/>
            <a:ext cx="256020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Real-World Applications</a:t>
            </a:r>
            <a:endParaRPr lang="en-US" sz="17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9872" y="2136100"/>
            <a:ext cx="7796451" cy="363021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639872" y="5922050"/>
            <a:ext cx="7796451" cy="145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Rural healthcare screening programs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Mobile-based diagnosis platforms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Health camps and telemedicine services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Early detection and preventive care systems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Community health worker assistance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4962" y="561380"/>
            <a:ext cx="5751314" cy="575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Conclusion &amp; Future Work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4962" y="1511498"/>
            <a:ext cx="2303621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Key Findings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4962" y="1949053"/>
            <a:ext cx="3702248" cy="1870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Our research demonstrates that non-invasive anemia detection using conjunctiva images is feasible with deep learning models. </a:t>
            </a:r>
            <a:r>
              <a:rPr lang="en-US" sz="14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ResNet-50 achieved 78% accuracy</a:t>
            </a: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, proving superior overall performance while MobileNet offers best recall for sensitive detection.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44962" y="3953947"/>
            <a:ext cx="3702248" cy="1068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This approach provides accessible, cost-effective screening alternative to traditional blood tests, particularly valuable for resource-limited settings.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804410" y="1511498"/>
            <a:ext cx="2303621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Future Directions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804410" y="1967746"/>
            <a:ext cx="368498" cy="230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01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804410" y="2257901"/>
            <a:ext cx="3702248" cy="22860"/>
          </a:xfrm>
          <a:prstGeom prst="rect">
            <a:avLst/>
          </a:prstGeom>
          <a:solidFill>
            <a:srgbClr val="626C3B"/>
          </a:solidFill>
          <a:ln/>
        </p:spPr>
      </p:sp>
      <p:sp>
        <p:nvSpPr>
          <p:cNvPr id="10" name="Text 7"/>
          <p:cNvSpPr/>
          <p:nvPr/>
        </p:nvSpPr>
        <p:spPr>
          <a:xfrm>
            <a:off x="4804410" y="2395657"/>
            <a:ext cx="2303621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Expand Dataset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804410" y="2833211"/>
            <a:ext cx="3702248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Collect larger, diverse samples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4804410" y="3388162"/>
            <a:ext cx="368498" cy="230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02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4804410" y="3678317"/>
            <a:ext cx="3702248" cy="22860"/>
          </a:xfrm>
          <a:prstGeom prst="rect">
            <a:avLst/>
          </a:prstGeom>
          <a:solidFill>
            <a:srgbClr val="83792E"/>
          </a:solidFill>
          <a:ln/>
        </p:spPr>
      </p:sp>
      <p:sp>
        <p:nvSpPr>
          <p:cNvPr id="14" name="Text 11"/>
          <p:cNvSpPr/>
          <p:nvPr/>
        </p:nvSpPr>
        <p:spPr>
          <a:xfrm>
            <a:off x="4804410" y="3816072"/>
            <a:ext cx="2303621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Mobile App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804410" y="4253627"/>
            <a:ext cx="3702248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Develop real-time application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4804410" y="4808577"/>
            <a:ext cx="368498" cy="230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4804410" y="5098733"/>
            <a:ext cx="3702248" cy="22860"/>
          </a:xfrm>
          <a:prstGeom prst="rect">
            <a:avLst/>
          </a:prstGeom>
          <a:solidFill>
            <a:srgbClr val="E8AF3B"/>
          </a:solidFill>
          <a:ln/>
        </p:spPr>
      </p:sp>
      <p:sp>
        <p:nvSpPr>
          <p:cNvPr id="18" name="Text 15"/>
          <p:cNvSpPr/>
          <p:nvPr/>
        </p:nvSpPr>
        <p:spPr>
          <a:xfrm>
            <a:off x="4804410" y="5236488"/>
            <a:ext cx="2303621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Clinical Trials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804410" y="5674042"/>
            <a:ext cx="3702248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Validate with medical professionals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4804410" y="6228993"/>
            <a:ext cx="368498" cy="230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04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4804410" y="6519148"/>
            <a:ext cx="3702248" cy="22860"/>
          </a:xfrm>
          <a:prstGeom prst="rect">
            <a:avLst/>
          </a:prstGeom>
          <a:solidFill>
            <a:srgbClr val="CC914D"/>
          </a:solidFill>
          <a:ln/>
        </p:spPr>
      </p:sp>
      <p:sp>
        <p:nvSpPr>
          <p:cNvPr id="22" name="Text 19"/>
          <p:cNvSpPr/>
          <p:nvPr/>
        </p:nvSpPr>
        <p:spPr>
          <a:xfrm>
            <a:off x="4804410" y="6656903"/>
            <a:ext cx="2303621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Multi-class Models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4804410" y="7094458"/>
            <a:ext cx="3702248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Predict hemoglobin levels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576</Words>
  <Application>Microsoft Office PowerPoint</Application>
  <PresentationFormat>Custom</PresentationFormat>
  <Paragraphs>137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Brygada 1918</vt:lpstr>
      <vt:lpstr>Brygada 1918 Light</vt:lpstr>
      <vt:lpstr>Brygada 1918 Semi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Nandan</dc:creator>
  <cp:lastModifiedBy>NANDAN KIET</cp:lastModifiedBy>
  <cp:revision>2</cp:revision>
  <dcterms:created xsi:type="dcterms:W3CDTF">2026-04-11T04:06:15Z</dcterms:created>
  <dcterms:modified xsi:type="dcterms:W3CDTF">2026-04-11T04:55:37Z</dcterms:modified>
</cp:coreProperties>
</file>